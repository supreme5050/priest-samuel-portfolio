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0F"/>
          </a:solidFill>
          <a:ln w="12700">
            <a:solidFill>
              <a:srgbClr val="06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263640"/>
            <a:ext cx="10789920" cy="0"/>
          </a:xfrm>
          <a:prstGeom prst="line">
            <a:avLst/>
          </a:prstGeom>
          <a:noFill/>
          <a:ln w="12700">
            <a:solidFill>
              <a:srgbClr val="1236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355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8983"/>
                </a:solidFill>
              </a:rPr>
              <a:t>REDEMPTION CITY NAVIGATOR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658368"/>
            <a:ext cx="4160520" cy="347472"/>
          </a:xfrm>
          <a:prstGeom prst="roundRect">
            <a:avLst>
              <a:gd name="adj" fmla="val 21053"/>
            </a:avLst>
          </a:prstGeom>
          <a:solidFill>
            <a:srgbClr val="13E6D0"/>
          </a:solidFill>
          <a:ln w="12700">
            <a:solidFill>
              <a:srgbClr val="13E6D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745236"/>
            <a:ext cx="3941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6110F"/>
                </a:solidFill>
              </a:rPr>
              <a:t>WORKING MOBILE MVP // LOCAL NAVIGATION + SERVICES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685800" y="1143000"/>
            <a:ext cx="5577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5FFFC"/>
                </a:solidFill>
              </a:rPr>
              <a:t>Redemption City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5FFFC"/>
                </a:solidFill>
              </a:rPr>
              <a:t>Navigator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13232" y="28803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B9D6CF"/>
                </a:solidFill>
              </a:rPr>
              <a:t>A practical mobile platform for finding places, services, chalets, vendors and movement options inside Redemption City.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3232" y="3977640"/>
            <a:ext cx="4206240" cy="0"/>
          </a:xfrm>
          <a:prstGeom prst="line">
            <a:avLst/>
          </a:prstGeom>
          <a:noFill/>
          <a:ln w="25400">
            <a:solidFill>
              <a:srgbClr val="13E6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425196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B9D6CF"/>
                </a:solidFill>
              </a:rPr>
              <a:t>Built for residents, worshippers, visitors and service providers who need confident movement inside camp.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543800" y="594360"/>
            <a:ext cx="2743200" cy="5486400"/>
          </a:xfrm>
          <a:prstGeom prst="roundRect">
            <a:avLst>
              <a:gd name="adj" fmla="val 8000"/>
            </a:avLst>
          </a:prstGeom>
          <a:solidFill>
            <a:srgbClr val="101614"/>
          </a:solidFill>
          <a:ln w="19050">
            <a:solidFill>
              <a:srgbClr val="315F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08392" y="804672"/>
            <a:ext cx="2414016" cy="5065776"/>
          </a:xfrm>
          <a:prstGeom prst="roundRect">
            <a:avLst>
              <a:gd name="adj" fmla="val 5303"/>
            </a:avLst>
          </a:prstGeom>
          <a:solidFill>
            <a:srgbClr val="0A1915"/>
          </a:solidFill>
          <a:ln w="10160">
            <a:solidFill>
              <a:srgbClr val="1A3A34"/>
            </a:solidFill>
            <a:prstDash val="solid"/>
          </a:ln>
        </p:spPr>
      </p:sp>
      <p:pic>
        <p:nvPicPr>
          <p:cNvPr id="15" name="Image 0" descr="/mnt/data/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6680" y="822960"/>
            <a:ext cx="2377440" cy="50292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119872" y="5742432"/>
            <a:ext cx="1591056" cy="73152"/>
          </a:xfrm>
          <a:prstGeom prst="roundRect">
            <a:avLst>
              <a:gd name="adj" fmla="val 50000"/>
            </a:avLst>
          </a:prstGeom>
          <a:solidFill>
            <a:srgbClr val="E9FFFB"/>
          </a:solidFill>
          <a:ln w="12700">
            <a:solidFill>
              <a:srgbClr val="E9FFF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5166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E6D0"/>
                </a:solidFill>
              </a:rPr>
              <a:t>200+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713232" y="5760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9D6CF"/>
                </a:solidFill>
              </a:rPr>
              <a:t>places and road references ready for offline discovery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657600" y="5166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E6D0"/>
                </a:solidFill>
              </a:rPr>
              <a:t>4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3657600" y="5760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9D6CF"/>
                </a:solidFill>
              </a:rPr>
              <a:t>service pillars: navigate, stay, buy, move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0F"/>
          </a:solidFill>
          <a:ln w="12700">
            <a:solidFill>
              <a:srgbClr val="06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263640"/>
            <a:ext cx="10789920" cy="0"/>
          </a:xfrm>
          <a:prstGeom prst="line">
            <a:avLst/>
          </a:prstGeom>
          <a:noFill/>
          <a:ln w="12700">
            <a:solidFill>
              <a:srgbClr val="1236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355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8983"/>
                </a:solidFill>
              </a:rPr>
              <a:t>REDEMPTION CITY NAVIGATOR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411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E6D0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91440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5FFFC"/>
                </a:solidFill>
              </a:rPr>
              <a:t>Movement inside camp is harder than it should be.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13232" y="196596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B9D6CF"/>
                </a:solidFill>
              </a:rPr>
              <a:t>Redemption City has roads, landmarks, ministries, chalets, vendors and services that are not always easy to locate quickly, especially for first-time visitors.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66560" y="960120"/>
            <a:ext cx="4480560" cy="4160520"/>
          </a:xfrm>
          <a:prstGeom prst="roundRect">
            <a:avLst>
              <a:gd name="adj" fmla="val 2637"/>
            </a:avLst>
          </a:prstGeom>
          <a:solidFill>
            <a:srgbClr val="071B17"/>
          </a:solidFill>
          <a:ln w="12700">
            <a:solidFill>
              <a:srgbClr val="1747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78040" y="4389120"/>
            <a:ext cx="3383280" cy="-2651760"/>
          </a:xfrm>
          <a:prstGeom prst="line">
            <a:avLst/>
          </a:prstGeom>
          <a:noFill/>
          <a:ln w="50800">
            <a:solidFill>
              <a:srgbClr val="13E6D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06640" y="1691640"/>
            <a:ext cx="3108960" cy="2468880"/>
          </a:xfrm>
          <a:prstGeom prst="line">
            <a:avLst/>
          </a:prstGeom>
          <a:noFill/>
          <a:ln w="50800">
            <a:solidFill>
              <a:srgbClr val="F6B73C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15200" y="3063240"/>
            <a:ext cx="2834640" cy="0"/>
          </a:xfrm>
          <a:prstGeom prst="line">
            <a:avLst/>
          </a:prstGeom>
          <a:noFill/>
          <a:ln w="50800">
            <a:solidFill>
              <a:srgbClr val="F0443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132320" y="1417320"/>
            <a:ext cx="530352" cy="530352"/>
          </a:xfrm>
          <a:prstGeom prst="ellipse">
            <a:avLst/>
          </a:prstGeom>
          <a:solidFill>
            <a:srgbClr val="0E2A25"/>
          </a:solidFill>
          <a:ln w="15240">
            <a:solidFill>
              <a:srgbClr val="13E6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32904" y="152704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E6D0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18120" y="155448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FFC"/>
                </a:solidFill>
              </a:rPr>
              <a:t>Ask strangers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32320" y="2130552"/>
            <a:ext cx="530352" cy="530352"/>
          </a:xfrm>
          <a:prstGeom prst="ellipse">
            <a:avLst/>
          </a:prstGeom>
          <a:solidFill>
            <a:srgbClr val="0E2A25"/>
          </a:solidFill>
          <a:ln w="15240">
            <a:solidFill>
              <a:srgbClr val="F6B7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32904" y="22402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B73C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18120" y="2267712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FFC"/>
                </a:solidFill>
              </a:rPr>
              <a:t>Miss roads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32320" y="2843784"/>
            <a:ext cx="530352" cy="530352"/>
          </a:xfrm>
          <a:prstGeom prst="ellipse">
            <a:avLst/>
          </a:prstGeom>
          <a:solidFill>
            <a:srgbClr val="0E2A25"/>
          </a:solidFill>
          <a:ln w="15240">
            <a:solidFill>
              <a:srgbClr val="F044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32904" y="295351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4438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18120" y="2980944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FFC"/>
                </a:solidFill>
              </a:rPr>
              <a:t>Waste time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132320" y="3557016"/>
            <a:ext cx="530352" cy="530352"/>
          </a:xfrm>
          <a:prstGeom prst="ellipse">
            <a:avLst/>
          </a:prstGeom>
          <a:solidFill>
            <a:srgbClr val="0E2A25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32904" y="366674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18120" y="3694176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FFC"/>
                </a:solidFill>
              </a:rPr>
              <a:t>Unclear vendors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13232" y="3246120"/>
            <a:ext cx="521208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9D6CF"/>
                </a:solidFill>
              </a:rPr>
              <a:t>• People depend on repeated verbal directions.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9D6CF"/>
                </a:solidFill>
              </a:rPr>
              <a:t>• Visitors struggle to find chalets, churches, vendors and facilities.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9D6CF"/>
                </a:solidFill>
              </a:rPr>
              <a:t>• Sunday movement creates avoidable pressure when transport is limited.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9D6CF"/>
                </a:solidFill>
              </a:rPr>
              <a:t>• Local vendors lack a unified discovery and delivery channel.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0F"/>
          </a:solidFill>
          <a:ln w="12700">
            <a:solidFill>
              <a:srgbClr val="06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263640"/>
            <a:ext cx="10789920" cy="0"/>
          </a:xfrm>
          <a:prstGeom prst="line">
            <a:avLst/>
          </a:prstGeom>
          <a:noFill/>
          <a:ln w="12700">
            <a:solidFill>
              <a:srgbClr val="1236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355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8983"/>
                </a:solidFill>
              </a:rPr>
              <a:t>REDEMPTION CITY NAVIGATOR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411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E6D0"/>
                </a:solidFill>
              </a:rPr>
              <a:t>THE SOLUTION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8686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5FFFC"/>
                </a:solidFill>
              </a:rPr>
              <a:t>A local operating layer for Redemption City.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13232" y="17373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B9D6CF"/>
                </a:solidFill>
              </a:rPr>
              <a:t>The Navigator combines searchable places, internal route guidance, chalets, vendors, Sunday Shuttle and delivery into one mobile experience.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578608"/>
            <a:ext cx="2286000" cy="2286000"/>
          </a:xfrm>
          <a:prstGeom prst="ellipse">
            <a:avLst/>
          </a:prstGeom>
          <a:solidFill>
            <a:srgbClr val="063F2B"/>
          </a:solidFill>
          <a:ln w="25400">
            <a:solidFill>
              <a:srgbClr val="13E6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32461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RCN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035040" y="3703320"/>
            <a:ext cx="-3291840" cy="-960120"/>
          </a:xfrm>
          <a:prstGeom prst="line">
            <a:avLst/>
          </a:prstGeom>
          <a:noFill/>
          <a:ln w="22860">
            <a:solidFill>
              <a:srgbClr val="2A74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3703320"/>
            <a:ext cx="3063240" cy="-960120"/>
          </a:xfrm>
          <a:prstGeom prst="line">
            <a:avLst/>
          </a:prstGeom>
          <a:noFill/>
          <a:ln w="22860">
            <a:solidFill>
              <a:srgbClr val="2A746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3703320"/>
            <a:ext cx="-3246120" cy="2011680"/>
          </a:xfrm>
          <a:prstGeom prst="line">
            <a:avLst/>
          </a:prstGeom>
          <a:noFill/>
          <a:ln w="22860">
            <a:solidFill>
              <a:srgbClr val="2A74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3703320"/>
            <a:ext cx="3063240" cy="2011680"/>
          </a:xfrm>
          <a:prstGeom prst="line">
            <a:avLst/>
          </a:prstGeom>
          <a:noFill/>
          <a:ln w="22860">
            <a:solidFill>
              <a:srgbClr val="2A746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3703320"/>
            <a:ext cx="-457200" cy="2560320"/>
          </a:xfrm>
          <a:prstGeom prst="line">
            <a:avLst/>
          </a:prstGeom>
          <a:noFill/>
          <a:ln w="22860">
            <a:solidFill>
              <a:srgbClr val="2A746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0" y="182880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0E2A25"/>
          </a:solidFill>
          <a:ln w="12700">
            <a:solidFill>
              <a:srgbClr val="1F62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93392" y="1929384"/>
            <a:ext cx="530352" cy="530352"/>
          </a:xfrm>
          <a:prstGeom prst="ellipse">
            <a:avLst/>
          </a:prstGeom>
          <a:solidFill>
            <a:srgbClr val="0E2A25"/>
          </a:solidFill>
          <a:ln w="15240">
            <a:solidFill>
              <a:srgbClr val="13E6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93976" y="203911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E6D0"/>
                </a:solidFill>
              </a:rPr>
              <a:t>⌖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06040" y="20482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FFC"/>
                </a:solidFill>
              </a:rPr>
              <a:t>Navigate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83880" y="182880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0E2A25"/>
          </a:solidFill>
          <a:ln w="12700">
            <a:solidFill>
              <a:srgbClr val="1F62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48472" y="1929384"/>
            <a:ext cx="530352" cy="530352"/>
          </a:xfrm>
          <a:prstGeom prst="ellipse">
            <a:avLst/>
          </a:prstGeom>
          <a:solidFill>
            <a:srgbClr val="0E2A25"/>
          </a:solidFill>
          <a:ln w="15240">
            <a:solidFill>
              <a:srgbClr val="F6B7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49056" y="203911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B73C"/>
                </a:solidFill>
              </a:rPr>
              <a:t>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61120" y="20482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FFC"/>
                </a:solidFill>
              </a:rPr>
              <a:t>Chalets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874520" y="480060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0E2A25"/>
          </a:solidFill>
          <a:ln w="12700">
            <a:solidFill>
              <a:srgbClr val="1F62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39112" y="4901184"/>
            <a:ext cx="530352" cy="530352"/>
          </a:xfrm>
          <a:prstGeom prst="ellipse">
            <a:avLst/>
          </a:prstGeom>
          <a:solidFill>
            <a:srgbClr val="0E2A25"/>
          </a:solidFill>
          <a:ln w="15240">
            <a:solidFill>
              <a:srgbClr val="13E6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39696" y="501091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E6D0"/>
                </a:solidFill>
              </a:rPr>
              <a:t>₦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51760" y="50200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FFC"/>
                </a:solidFill>
              </a:rPr>
              <a:t>Market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83880" y="480060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0E2A25"/>
          </a:solidFill>
          <a:ln w="12700">
            <a:solidFill>
              <a:srgbClr val="1F62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48472" y="4901184"/>
            <a:ext cx="530352" cy="530352"/>
          </a:xfrm>
          <a:prstGeom prst="ellipse">
            <a:avLst/>
          </a:prstGeom>
          <a:solidFill>
            <a:srgbClr val="0E2A25"/>
          </a:solidFill>
          <a:ln w="15240">
            <a:solidFill>
              <a:srgbClr val="F6B7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49056" y="501091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B73C"/>
                </a:solidFill>
              </a:rPr>
              <a:t>↗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961120" y="50200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FFC"/>
                </a:solidFill>
              </a:rPr>
              <a:t>Delivery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663440" y="534924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0E2A25"/>
          </a:solidFill>
          <a:ln w="12700">
            <a:solidFill>
              <a:srgbClr val="1F625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28032" y="5449824"/>
            <a:ext cx="530352" cy="530352"/>
          </a:xfrm>
          <a:prstGeom prst="ellipse">
            <a:avLst/>
          </a:prstGeom>
          <a:solidFill>
            <a:srgbClr val="0E2A25"/>
          </a:solidFill>
          <a:ln w="15240">
            <a:solidFill>
              <a:srgbClr val="13E6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28616" y="55595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E6D0"/>
                </a:solidFill>
              </a:rPr>
              <a:t>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40680" y="55686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FFC"/>
                </a:solidFill>
              </a:rPr>
              <a:t>Sunday Shuttle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22960" y="544068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B9D6CF"/>
                </a:solidFill>
              </a:rPr>
              <a:t>One app turns fragmented camp movement into a single, usable service layer.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0F"/>
          </a:solidFill>
          <a:ln w="12700">
            <a:solidFill>
              <a:srgbClr val="06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263640"/>
            <a:ext cx="10789920" cy="0"/>
          </a:xfrm>
          <a:prstGeom prst="line">
            <a:avLst/>
          </a:prstGeom>
          <a:noFill/>
          <a:ln w="12700">
            <a:solidFill>
              <a:srgbClr val="1236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355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8983"/>
                </a:solidFill>
              </a:rPr>
              <a:t>REDEMPTION CITY NAVIGATOR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411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E6D0"/>
                </a:solidFill>
              </a:rPr>
              <a:t>PRODUCT EXPERIENCE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8686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5FFFC"/>
                </a:solidFill>
              </a:rPr>
              <a:t>From “where is it?” to “I can get there.”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13232" y="169164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B9D6CF"/>
                </a:solidFill>
              </a:rPr>
              <a:t>The MVP keeps the experience focused: search, route, discover, request, and move.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2743200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063F2B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" y="2926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E6D0"/>
                </a:solidFill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14984" y="32735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FFC"/>
                </a:solidFill>
              </a:rPr>
              <a:t>Search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14984" y="365760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9D6CF"/>
                </a:solidFill>
              </a:rPr>
              <a:t>Find roads, churches, chalets and landmarks offline.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2624328" y="3438144"/>
            <a:ext cx="438912" cy="0"/>
          </a:xfrm>
          <a:prstGeom prst="line">
            <a:avLst/>
          </a:prstGeom>
          <a:noFill/>
          <a:ln w="16510">
            <a:solidFill>
              <a:srgbClr val="13E6D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108960" y="2743200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55264" y="2926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8983"/>
                </a:solidFill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55264" y="32735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FFC"/>
                </a:solidFill>
              </a:rPr>
              <a:t>Route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55264" y="365760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9D6CF"/>
                </a:solidFill>
              </a:rPr>
              <a:t>Show internal route guidance to selected destinations.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4864608" y="3438144"/>
            <a:ext cx="438912" cy="0"/>
          </a:xfrm>
          <a:prstGeom prst="line">
            <a:avLst/>
          </a:prstGeom>
          <a:noFill/>
          <a:ln w="16510">
            <a:solidFill>
              <a:srgbClr val="13E6D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349240" y="2743200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95544" y="2926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8983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95544" y="32735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FFC"/>
                </a:solidFill>
              </a:rPr>
              <a:t>Stay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95544" y="365760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9D6CF"/>
                </a:solidFill>
              </a:rPr>
              <a:t>Discover chalet options and location context.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7104888" y="3438144"/>
            <a:ext cx="438912" cy="0"/>
          </a:xfrm>
          <a:prstGeom prst="line">
            <a:avLst/>
          </a:prstGeom>
          <a:noFill/>
          <a:ln w="16510">
            <a:solidFill>
              <a:srgbClr val="13E6D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589520" y="2743200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5824" y="2926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8983"/>
                </a:solidFill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35824" y="32735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FFC"/>
                </a:solidFill>
              </a:rPr>
              <a:t>Buy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35824" y="365760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9D6CF"/>
                </a:solidFill>
              </a:rPr>
              <a:t>Browse vendors and local products.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9345168" y="3438144"/>
            <a:ext cx="438912" cy="0"/>
          </a:xfrm>
          <a:prstGeom prst="line">
            <a:avLst/>
          </a:prstGeom>
          <a:noFill/>
          <a:ln w="16510">
            <a:solidFill>
              <a:srgbClr val="13E6D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829800" y="2743200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76104" y="2926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8983"/>
                </a:solidFill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976104" y="32735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FFC"/>
                </a:solidFill>
              </a:rPr>
              <a:t>Deliver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976104" y="365760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9D6CF"/>
                </a:solidFill>
              </a:rPr>
              <a:t>Move orders to doorsteps through local riders.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868680" y="4828032"/>
            <a:ext cx="3063240" cy="347472"/>
          </a:xfrm>
          <a:prstGeom prst="roundRect">
            <a:avLst>
              <a:gd name="adj" fmla="val 21053"/>
            </a:avLst>
          </a:prstGeom>
          <a:solidFill>
            <a:srgbClr val="0E2A25"/>
          </a:solidFill>
          <a:ln w="12700">
            <a:solidFill>
              <a:srgbClr val="0E2A2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8408" y="4914900"/>
            <a:ext cx="2843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3E6D0"/>
                </a:solidFill>
              </a:rPr>
              <a:t>DESIGNED FOR MOBILE-FIRST CAMP USAGE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877824" y="53766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9D6CF"/>
                </a:solidFill>
              </a:rPr>
              <a:t>The interface is deliberately simple: users should not need training before using it inside camp.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0F"/>
          </a:solidFill>
          <a:ln w="12700">
            <a:solidFill>
              <a:srgbClr val="06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263640"/>
            <a:ext cx="10789920" cy="0"/>
          </a:xfrm>
          <a:prstGeom prst="line">
            <a:avLst/>
          </a:prstGeom>
          <a:noFill/>
          <a:ln w="12700">
            <a:solidFill>
              <a:srgbClr val="1236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355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8983"/>
                </a:solidFill>
              </a:rPr>
              <a:t>REDEMPTION CITY NAVIGATOR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411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E6D0"/>
                </a:solidFill>
              </a:rPr>
              <a:t>CORE FEATURES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8229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5FFFC"/>
                </a:solidFill>
              </a:rPr>
              <a:t>Four pillars make the product useful beyond a map.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4983480" cy="1234440"/>
          </a:xfrm>
          <a:prstGeom prst="roundRect">
            <a:avLst>
              <a:gd name="adj" fmla="val 8889"/>
            </a:avLst>
          </a:prstGeom>
          <a:solidFill>
            <a:srgbClr val="063F2B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185416"/>
            <a:ext cx="530352" cy="530352"/>
          </a:xfrm>
          <a:prstGeom prst="ellipse">
            <a:avLst/>
          </a:prstGeom>
          <a:solidFill>
            <a:srgbClr val="0E2A25"/>
          </a:solidFill>
          <a:ln w="15240">
            <a:solidFill>
              <a:srgbClr val="13E6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229514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E6D0"/>
                </a:solidFill>
              </a:rPr>
              <a:t>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37360" y="21305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FFC"/>
                </a:solidFill>
              </a:rPr>
              <a:t>Offline Search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37360" y="2468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D6CF"/>
                </a:solidFill>
              </a:rPr>
              <a:t>Places, aliases, roads and landmarks are searchable without relying fully on internet data.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1874520"/>
            <a:ext cx="4983480" cy="1234440"/>
          </a:xfrm>
          <a:prstGeom prst="roundRect">
            <a:avLst>
              <a:gd name="adj" fmla="val 8889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185416"/>
            <a:ext cx="530352" cy="530352"/>
          </a:xfrm>
          <a:prstGeom prst="ellipse">
            <a:avLst/>
          </a:prstGeom>
          <a:solidFill>
            <a:srgbClr val="0E2A25"/>
          </a:solidFill>
          <a:ln w="15240">
            <a:solidFill>
              <a:srgbClr val="13E6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92824" y="229514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E6D0"/>
                </a:solidFill>
              </a:rPr>
              <a:t>↱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23760" y="21305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FFC"/>
                </a:solidFill>
              </a:rPr>
              <a:t>Internal Routes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23760" y="2468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D6CF"/>
                </a:solidFill>
              </a:rPr>
              <a:t>Saved local route corridors guide users to important points inside Redemption City.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3703320"/>
            <a:ext cx="4983480" cy="1234440"/>
          </a:xfrm>
          <a:prstGeom prst="roundRect">
            <a:avLst>
              <a:gd name="adj" fmla="val 8889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4014216"/>
            <a:ext cx="530352" cy="530352"/>
          </a:xfrm>
          <a:prstGeom prst="ellipse">
            <a:avLst/>
          </a:prstGeom>
          <a:solidFill>
            <a:srgbClr val="0E2A25"/>
          </a:solidFill>
          <a:ln w="15240">
            <a:solidFill>
              <a:srgbClr val="F6B7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" y="412394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B73C"/>
                </a:solidFill>
              </a:rPr>
              <a:t>₦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737360" y="3959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FFC"/>
                </a:solidFill>
              </a:rPr>
              <a:t>Market Hub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37360" y="4297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D6CF"/>
                </a:solidFill>
              </a:rPr>
              <a:t>A multi-vendor directory brings products and services into one camp marketplace.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3703320"/>
            <a:ext cx="4983480" cy="1234440"/>
          </a:xfrm>
          <a:prstGeom prst="roundRect">
            <a:avLst>
              <a:gd name="adj" fmla="val 8889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4014216"/>
            <a:ext cx="530352" cy="530352"/>
          </a:xfrm>
          <a:prstGeom prst="ellipse">
            <a:avLst/>
          </a:prstGeom>
          <a:solidFill>
            <a:srgbClr val="0E2A25"/>
          </a:solidFill>
          <a:ln w="15240">
            <a:solidFill>
              <a:srgbClr val="13E6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412394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E6D0"/>
                </a:solidFill>
              </a:rPr>
              <a:t>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23760" y="3959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FFC"/>
                </a:solidFill>
              </a:rPr>
              <a:t>Chalets + Shuttle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23760" y="4297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D6CF"/>
                </a:solidFill>
              </a:rPr>
              <a:t>Users can locate chalet areas and access Sunday movement support from within the app.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0F"/>
          </a:solidFill>
          <a:ln w="12700">
            <a:solidFill>
              <a:srgbClr val="06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263640"/>
            <a:ext cx="10789920" cy="0"/>
          </a:xfrm>
          <a:prstGeom prst="line">
            <a:avLst/>
          </a:prstGeom>
          <a:noFill/>
          <a:ln w="12700">
            <a:solidFill>
              <a:srgbClr val="1236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355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8983"/>
                </a:solidFill>
              </a:rPr>
              <a:t>REDEMPTION CITY NAVIGATOR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411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E6D0"/>
                </a:solidFill>
              </a:rPr>
              <a:t>DELIVERY + LOCAL JOB CREATION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82296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5FFFC"/>
                </a:solidFill>
              </a:rPr>
              <a:t>Commerce becomes more valuable when delivery is built in.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13232" y="1627632"/>
            <a:ext cx="7543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9D6CF"/>
                </a:solidFill>
              </a:rPr>
              <a:t>When a user orders from a vendor, the system supports delivery to the user’s doorstep, creating practical earning opportunities for people inside Redemption City.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2743200"/>
            <a:ext cx="2194560" cy="1143000"/>
          </a:xfrm>
          <a:prstGeom prst="roundRect">
            <a:avLst>
              <a:gd name="adj" fmla="val 9600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99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5FFFC"/>
                </a:solidFill>
              </a:rPr>
              <a:t>Customer orders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05840" y="33558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D6CF"/>
                </a:solidFill>
              </a:rPr>
              <a:t>Select product or service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72384" y="3319272"/>
            <a:ext cx="493776" cy="0"/>
          </a:xfrm>
          <a:prstGeom prst="line">
            <a:avLst/>
          </a:prstGeom>
          <a:noFill/>
          <a:ln w="25400">
            <a:solidFill>
              <a:srgbClr val="13E6D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11880" y="2743200"/>
            <a:ext cx="2194560" cy="1143000"/>
          </a:xfrm>
          <a:prstGeom prst="roundRect">
            <a:avLst>
              <a:gd name="adj" fmla="val 9600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2999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5FFFC"/>
                </a:solidFill>
              </a:rPr>
              <a:t>Vendor confirms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794760" y="33558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D6CF"/>
                </a:solidFill>
              </a:rPr>
              <a:t>Order is prepared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61304" y="3319272"/>
            <a:ext cx="493776" cy="0"/>
          </a:xfrm>
          <a:prstGeom prst="line">
            <a:avLst/>
          </a:prstGeom>
          <a:noFill/>
          <a:ln w="25400">
            <a:solidFill>
              <a:srgbClr val="13E6D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00800" y="2743200"/>
            <a:ext cx="2194560" cy="1143000"/>
          </a:xfrm>
          <a:prstGeom prst="roundRect">
            <a:avLst>
              <a:gd name="adj" fmla="val 9600"/>
            </a:avLst>
          </a:prstGeom>
          <a:solidFill>
            <a:srgbClr val="063F2B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999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5FFFC"/>
                </a:solidFill>
              </a:rPr>
              <a:t>Local delivery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83680" y="33558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D6CF"/>
                </a:solidFill>
              </a:rPr>
              <a:t>Rider/runner picks up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50224" y="3319272"/>
            <a:ext cx="493776" cy="0"/>
          </a:xfrm>
          <a:prstGeom prst="line">
            <a:avLst/>
          </a:prstGeom>
          <a:noFill/>
          <a:ln w="25400">
            <a:solidFill>
              <a:srgbClr val="13E6D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89720" y="2743200"/>
            <a:ext cx="2194560" cy="1143000"/>
          </a:xfrm>
          <a:prstGeom prst="roundRect">
            <a:avLst>
              <a:gd name="adj" fmla="val 9600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72600" y="2999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5FFFC"/>
                </a:solidFill>
              </a:rPr>
              <a:t>Doorstep arrival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372600" y="33558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D6CF"/>
                </a:solidFill>
              </a:rPr>
              <a:t>User receives order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68680" y="4892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E6D0"/>
                </a:solidFill>
              </a:rPr>
              <a:t>New income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68680" y="5486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9D6CF"/>
                </a:solidFill>
              </a:rPr>
              <a:t>for verified riders, runners and helpers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97680" y="4892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E6D0"/>
                </a:solidFill>
              </a:rPr>
              <a:t>Better reach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4297680" y="5486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9D6CF"/>
                </a:solidFill>
              </a:rPr>
              <a:t>for small vendors inside camp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498080" y="4892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E6D0"/>
                </a:solidFill>
              </a:rPr>
              <a:t>Safer orders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498080" y="5486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9D6CF"/>
                </a:solidFill>
              </a:rPr>
              <a:t>through structured fulfillment and records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0F"/>
          </a:solidFill>
          <a:ln w="12700">
            <a:solidFill>
              <a:srgbClr val="06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263640"/>
            <a:ext cx="10789920" cy="0"/>
          </a:xfrm>
          <a:prstGeom prst="line">
            <a:avLst/>
          </a:prstGeom>
          <a:noFill/>
          <a:ln w="12700">
            <a:solidFill>
              <a:srgbClr val="1236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355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8983"/>
                </a:solidFill>
              </a:rPr>
              <a:t>REDEMPTION CITY NAVIGATOR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411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E6D0"/>
                </a:solidFill>
              </a:rPr>
              <a:t>SYSTEM DESIGN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804672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FFC"/>
                </a:solidFill>
              </a:rPr>
              <a:t>Offline-first architecture keeps the MVP usable in real camp conditions.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14400" y="1691640"/>
            <a:ext cx="9875520" cy="502920"/>
          </a:xfrm>
          <a:prstGeom prst="roundRect">
            <a:avLst>
              <a:gd name="adj" fmla="val 14545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83794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FFC"/>
                </a:solidFill>
              </a:rPr>
              <a:t>Mobile UI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88920" y="1837944"/>
            <a:ext cx="7406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D6CF"/>
                </a:solidFill>
              </a:rPr>
              <a:t>Expo Router screens, search, maps, market, chalets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2468880"/>
            <a:ext cx="9875520" cy="502920"/>
          </a:xfrm>
          <a:prstGeom prst="roundRect">
            <a:avLst>
              <a:gd name="adj" fmla="val 14545"/>
            </a:avLst>
          </a:prstGeom>
          <a:solidFill>
            <a:srgbClr val="063F2B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61518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FFC"/>
                </a:solidFill>
              </a:rPr>
              <a:t>Local Data Layer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88920" y="2615184"/>
            <a:ext cx="7406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D6CF"/>
                </a:solidFill>
              </a:rPr>
              <a:t>places.ts, verifiedRoutes.ts, vendors, chalets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" y="3246120"/>
            <a:ext cx="9875520" cy="502920"/>
          </a:xfrm>
          <a:prstGeom prst="roundRect">
            <a:avLst>
              <a:gd name="adj" fmla="val 14545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39242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FFC"/>
                </a:solidFill>
              </a:rPr>
              <a:t>Route Engine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88920" y="3392424"/>
            <a:ext cx="7406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D6CF"/>
                </a:solidFill>
              </a:rPr>
              <a:t>destination matching, route selection, distance estimates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0" y="4023360"/>
            <a:ext cx="9875520" cy="502920"/>
          </a:xfrm>
          <a:prstGeom prst="roundRect">
            <a:avLst>
              <a:gd name="adj" fmla="val 14545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16966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FFC"/>
                </a:solidFill>
              </a:rPr>
              <a:t>Service Modules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88920" y="4169664"/>
            <a:ext cx="7406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D6CF"/>
                </a:solidFill>
              </a:rPr>
              <a:t>market, delivery, Sunday Shuttle, feedback, orders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4400" y="4800600"/>
            <a:ext cx="9875520" cy="502920"/>
          </a:xfrm>
          <a:prstGeom prst="roundRect">
            <a:avLst>
              <a:gd name="adj" fmla="val 14545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94690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FFC"/>
                </a:solidFill>
              </a:rPr>
              <a:t>Cloud Expansion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788920" y="4946904"/>
            <a:ext cx="7406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D6CF"/>
                </a:solidFill>
              </a:rPr>
              <a:t>Supabase/API, admin tools, vendor onboarding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56235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9D6CF"/>
                </a:solidFill>
              </a:rPr>
              <a:t>The design allows the product to function as a local prototype today while scaling into a managed services platform.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0F"/>
          </a:solidFill>
          <a:ln w="12700">
            <a:solidFill>
              <a:srgbClr val="06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263640"/>
            <a:ext cx="10789920" cy="0"/>
          </a:xfrm>
          <a:prstGeom prst="line">
            <a:avLst/>
          </a:prstGeom>
          <a:noFill/>
          <a:ln w="12700">
            <a:solidFill>
              <a:srgbClr val="1236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355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8983"/>
                </a:solidFill>
              </a:rPr>
              <a:t>REDEMPTION CITY NAVIGATOR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411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E6D0"/>
                </a:solidFill>
              </a:rPr>
              <a:t>BUSINESS MODEL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8686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5FFFC"/>
                </a:solidFill>
              </a:rPr>
              <a:t>A sustainable local-services model, not just a navigation app.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68680" y="2011680"/>
            <a:ext cx="4983480" cy="1097280"/>
          </a:xfrm>
          <a:prstGeom prst="roundRect">
            <a:avLst>
              <a:gd name="adj" fmla="val 10000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402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FFC"/>
                </a:solidFill>
              </a:rPr>
              <a:t>Vendor commission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5786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D6CF"/>
                </a:solidFill>
              </a:rPr>
              <a:t>Small percentage on fulfilled marketplace orders.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2011680"/>
            <a:ext cx="4983480" cy="1097280"/>
          </a:xfrm>
          <a:prstGeom prst="roundRect">
            <a:avLst>
              <a:gd name="adj" fmla="val 10000"/>
            </a:avLst>
          </a:prstGeom>
          <a:solidFill>
            <a:srgbClr val="063F2B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2402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FFC"/>
                </a:solidFill>
              </a:rPr>
              <a:t>Delivery fee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25786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D6CF"/>
                </a:solidFill>
              </a:rPr>
              <a:t>Transparent fee that supports local delivery workers.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3611880"/>
            <a:ext cx="4983480" cy="1097280"/>
          </a:xfrm>
          <a:prstGeom prst="roundRect">
            <a:avLst>
              <a:gd name="adj" fmla="val 10000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8404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FFC"/>
                </a:solidFill>
              </a:rPr>
              <a:t>Premium listings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41788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D6CF"/>
                </a:solidFill>
              </a:rPr>
              <a:t>Verified vendors and chalets can improve discovery.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3611880"/>
            <a:ext cx="4983480" cy="1097280"/>
          </a:xfrm>
          <a:prstGeom prst="roundRect">
            <a:avLst>
              <a:gd name="adj" fmla="val 10000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8404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FFC"/>
                </a:solidFill>
              </a:rPr>
              <a:t>Institutional support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41788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D6CF"/>
                </a:solidFill>
              </a:rPr>
              <a:t>Partnership with camp units, hospitality and service departments.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5303520"/>
            <a:ext cx="4251960" cy="347472"/>
          </a:xfrm>
          <a:prstGeom prst="roundRect">
            <a:avLst>
              <a:gd name="adj" fmla="val 21053"/>
            </a:avLst>
          </a:prstGeom>
          <a:solidFill>
            <a:srgbClr val="13E6D0"/>
          </a:solidFill>
          <a:ln w="12700">
            <a:solidFill>
              <a:srgbClr val="13E6D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" y="5390388"/>
            <a:ext cx="4032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6110F"/>
                </a:solidFill>
              </a:rPr>
              <a:t>LOW FRICTION • LOCAL VALUE • SCALABLE PARTNERSHIPS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0F"/>
          </a:solidFill>
          <a:ln w="12700">
            <a:solidFill>
              <a:srgbClr val="06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263640"/>
            <a:ext cx="10789920" cy="0"/>
          </a:xfrm>
          <a:prstGeom prst="line">
            <a:avLst/>
          </a:prstGeom>
          <a:noFill/>
          <a:ln w="12700">
            <a:solidFill>
              <a:srgbClr val="1236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355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8983"/>
                </a:solidFill>
              </a:rPr>
              <a:t>REDEMPTION CITY NAVIGATOR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411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E6D0"/>
                </a:solidFill>
              </a:rPr>
              <a:t>IMPACT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84124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FFC"/>
                </a:solidFill>
              </a:rPr>
              <a:t>Better movement creates better experience, safer commerce and local work.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868680" y="2057400"/>
            <a:ext cx="3063240" cy="1005840"/>
          </a:xfrm>
          <a:prstGeom prst="roundRect">
            <a:avLst>
              <a:gd name="adj" fmla="val 10909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2677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FFC"/>
                </a:solidFill>
              </a:rPr>
              <a:t>Visitors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69848" y="25877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B9D6CF"/>
                </a:solidFill>
              </a:rPr>
              <a:t>Find places faster with less confusion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572000" y="2057400"/>
            <a:ext cx="3063240" cy="1005840"/>
          </a:xfrm>
          <a:prstGeom prst="roundRect">
            <a:avLst>
              <a:gd name="adj" fmla="val 10909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22677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FFC"/>
                </a:solidFill>
              </a:rPr>
              <a:t>Residents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73168" y="25877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B9D6CF"/>
                </a:solidFill>
              </a:rPr>
              <a:t>Access vendors, chalets and movement support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275320" y="2057400"/>
            <a:ext cx="3063240" cy="1005840"/>
          </a:xfrm>
          <a:prstGeom prst="roundRect">
            <a:avLst>
              <a:gd name="adj" fmla="val 10909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6488" y="22677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FFC"/>
                </a:solidFill>
              </a:rPr>
              <a:t>Vendors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76488" y="25877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B9D6CF"/>
                </a:solidFill>
              </a:rPr>
              <a:t>Gain discovery, orders and delivery reach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2743200" y="3977640"/>
            <a:ext cx="3063240" cy="1005840"/>
          </a:xfrm>
          <a:prstGeom prst="roundRect">
            <a:avLst>
              <a:gd name="adj" fmla="val 10909"/>
            </a:avLst>
          </a:prstGeom>
          <a:solidFill>
            <a:srgbClr val="063F2B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44368" y="41879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FFC"/>
                </a:solidFill>
              </a:rPr>
              <a:t>Youth / Riders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44368" y="45079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B9D6CF"/>
                </a:solidFill>
              </a:rPr>
              <a:t>Earn through local delivery and errands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492240" y="3977640"/>
            <a:ext cx="3063240" cy="1005840"/>
          </a:xfrm>
          <a:prstGeom prst="roundRect">
            <a:avLst>
              <a:gd name="adj" fmla="val 10909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93408" y="41879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FFC"/>
                </a:solidFill>
              </a:rPr>
              <a:t>Organizers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93408" y="45079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B9D6CF"/>
                </a:solidFill>
              </a:rPr>
              <a:t>Improve information flow and camp navigation</a:t>
            </a:r>
            <a:endParaRPr lang="en-US" sz="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0F"/>
          </a:solidFill>
          <a:ln w="12700">
            <a:solidFill>
              <a:srgbClr val="06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263640"/>
            <a:ext cx="10789920" cy="0"/>
          </a:xfrm>
          <a:prstGeom prst="line">
            <a:avLst/>
          </a:prstGeom>
          <a:noFill/>
          <a:ln w="12700">
            <a:solidFill>
              <a:srgbClr val="1236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355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8983"/>
                </a:solidFill>
              </a:rPr>
              <a:t>REDEMPTION CITY NAVIGATOR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411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E6D0"/>
                </a:solidFill>
              </a:rPr>
              <a:t>MVP READINESS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8686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5FFFC"/>
                </a:solidFill>
              </a:rPr>
              <a:t>The foundation is already in place.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13232" y="1700784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9D6CF"/>
                </a:solidFill>
              </a:rPr>
              <a:t>The submission package is backed by a GitHub repository, mobile prototype, architecture documentation and business design.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E6D0"/>
                </a:solidFill>
              </a:rPr>
              <a:t>GitHub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68680" y="33375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9D6CF"/>
                </a:solidFill>
              </a:rPr>
              <a:t>public repository with source code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11880" y="2743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E6D0"/>
                </a:solidFill>
              </a:rPr>
              <a:t>Expo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11880" y="3337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9D6CF"/>
                </a:solidFill>
              </a:rPr>
              <a:t>mobile MVP running on device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0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E6D0"/>
                </a:solidFill>
              </a:rPr>
              <a:t>Docs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00800" y="33375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9D6CF"/>
                </a:solidFill>
              </a:rPr>
              <a:t>architecture and GTM documents ready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89720" y="2743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E6D0"/>
                </a:solidFill>
              </a:rPr>
              <a:t>Demo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89720" y="3337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9D6CF"/>
                </a:solidFill>
              </a:rPr>
              <a:t>screen-recorded walkthrough for judges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0" y="4617720"/>
            <a:ext cx="9966960" cy="685800"/>
          </a:xfrm>
          <a:prstGeom prst="roundRect">
            <a:avLst>
              <a:gd name="adj" fmla="val 16000"/>
            </a:avLst>
          </a:prstGeom>
          <a:solidFill>
            <a:srgbClr val="0E2A25"/>
          </a:solidFill>
          <a:ln w="12700">
            <a:solidFill>
              <a:srgbClr val="1F62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486460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3E6D0"/>
                </a:solidFill>
              </a:rPr>
              <a:t>Repository: github.com/Supreme5050/redemption-city-navigator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0F"/>
          </a:solidFill>
          <a:ln w="12700">
            <a:solidFill>
              <a:srgbClr val="06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263640"/>
            <a:ext cx="10789920" cy="0"/>
          </a:xfrm>
          <a:prstGeom prst="line">
            <a:avLst/>
          </a:prstGeom>
          <a:noFill/>
          <a:ln w="12700">
            <a:solidFill>
              <a:srgbClr val="1236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355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8983"/>
                </a:solidFill>
              </a:rPr>
              <a:t>REDEMPTION CITY NAVIGATOR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411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E6D0"/>
                </a:solidFill>
              </a:rPr>
              <a:t>ROADMAP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8686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5FFFC"/>
                </a:solidFill>
              </a:rPr>
              <a:t>From MVP to deployment-ready city assistant.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868680" y="2560320"/>
            <a:ext cx="2240280" cy="1645920"/>
          </a:xfrm>
          <a:prstGeom prst="roundRect">
            <a:avLst>
              <a:gd name="adj" fmla="val 6667"/>
            </a:avLst>
          </a:prstGeom>
          <a:solidFill>
            <a:srgbClr val="063F2B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FFC"/>
                </a:solidFill>
              </a:rPr>
              <a:t>Now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32461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9D6CF"/>
                </a:solidFill>
              </a:rPr>
              <a:t>Mobile MVP, offline data, local services, demo-ready screens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3657600" y="2560320"/>
            <a:ext cx="2240280" cy="1645920"/>
          </a:xfrm>
          <a:prstGeom prst="roundRect">
            <a:avLst>
              <a:gd name="adj" fmla="val 6667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FFC"/>
                </a:solidFill>
              </a:rPr>
              <a:t>Next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32461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9D6CF"/>
                </a:solidFill>
              </a:rPr>
              <a:t>Route calibration, verified vendor onboarding, delivery operations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446520" y="2560320"/>
            <a:ext cx="2240280" cy="1645920"/>
          </a:xfrm>
          <a:prstGeom prst="roundRect">
            <a:avLst>
              <a:gd name="adj" fmla="val 6667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FFC"/>
                </a:solidFill>
              </a:rPr>
              <a:t>Scale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29400" y="32461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9D6CF"/>
                </a:solidFill>
              </a:rPr>
              <a:t>Admin dashboard, live service data, wallet/escrow, analytics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9235440" y="2560320"/>
            <a:ext cx="2240280" cy="1645920"/>
          </a:xfrm>
          <a:prstGeom prst="roundRect">
            <a:avLst>
              <a:gd name="adj" fmla="val 6667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FFC"/>
                </a:solidFill>
              </a:rPr>
              <a:t>Extend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18320" y="32461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9D6CF"/>
                </a:solidFill>
              </a:rPr>
              <a:t>AR guidance, AI assistant, integrations with official departments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1188720" y="4937760"/>
            <a:ext cx="9326880" cy="0"/>
          </a:xfrm>
          <a:prstGeom prst="line">
            <a:avLst/>
          </a:prstGeom>
          <a:noFill/>
          <a:ln w="25400">
            <a:solidFill>
              <a:srgbClr val="13E6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3492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D6CF"/>
                </a:solidFill>
              </a:rPr>
              <a:t>The system is designed to start with navigation and grow into a trusted local-services platform.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0F"/>
          </a:solidFill>
          <a:ln w="12700">
            <a:solidFill>
              <a:srgbClr val="06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3E6D0"/>
          </a:solidFill>
          <a:ln w="12700">
            <a:solidFill>
              <a:srgbClr val="13E6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263640"/>
            <a:ext cx="10789920" cy="0"/>
          </a:xfrm>
          <a:prstGeom prst="line">
            <a:avLst/>
          </a:prstGeom>
          <a:noFill/>
          <a:ln w="12700">
            <a:solidFill>
              <a:srgbClr val="1236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355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8983"/>
                </a:solidFill>
              </a:rPr>
              <a:t>REDEMPTION CITY NAVIGATOR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713232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3E6D0"/>
          </a:solidFill>
          <a:ln w="12700">
            <a:solidFill>
              <a:srgbClr val="13E6D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80010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6110F"/>
                </a:solidFill>
              </a:rPr>
              <a:t>SUBMISSION READY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5FFFC"/>
                </a:solidFill>
              </a:rPr>
              <a:t>Redemption City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5FFFC"/>
                </a:solidFill>
              </a:rPr>
              <a:t>Navigator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B9D6CF"/>
                </a:solidFill>
              </a:rPr>
              <a:t>Helping people find places, access services, order locally and move with confidence inside Redemption City.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20840" y="1188720"/>
            <a:ext cx="4343400" cy="3429000"/>
          </a:xfrm>
          <a:prstGeom prst="roundRect">
            <a:avLst>
              <a:gd name="adj" fmla="val 3200"/>
            </a:avLst>
          </a:prstGeom>
          <a:solidFill>
            <a:srgbClr val="0B211D"/>
          </a:solidFill>
          <a:ln w="12700">
            <a:solidFill>
              <a:srgbClr val="1747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86600" y="1572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FFC"/>
                </a:solidFill>
              </a:rPr>
              <a:t>Submission assets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114032" y="2084832"/>
            <a:ext cx="329184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9D6CF"/>
                </a:solidFill>
              </a:rPr>
              <a:t>• Architecture / Design PDF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D6CF"/>
                </a:solidFill>
              </a:rPr>
              <a:t>• Business Design / GTM PDF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D6CF"/>
                </a:solidFill>
              </a:rPr>
              <a:t>• Pitch Deck PDF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D6CF"/>
                </a:solidFill>
              </a:rPr>
              <a:t>• GitHub repository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D6CF"/>
                </a:solidFill>
              </a:rPr>
              <a:t>• Demo video and screenshots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14032" y="4069080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E6D0"/>
                </a:solidFill>
              </a:rPr>
              <a:t>Team Lead: Kenneth Samuel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14032" y="4370832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D6CF"/>
                </a:solidFill>
              </a:rPr>
              <a:t>GitHub: Supreme5050/redemption-city-navigator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TOP 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Redemption City Navigator - Pitch Deck</dc:title>
  <dc:subject>Redemption City Navigator Pitch Deck</dc:subject>
  <dc:creator>TOP G</dc:creator>
  <cp:lastModifiedBy>TOP G</cp:lastModifiedBy>
  <cp:revision>1</cp:revision>
  <dcterms:created xsi:type="dcterms:W3CDTF">2026-06-20T01:13:44Z</dcterms:created>
  <dcterms:modified xsi:type="dcterms:W3CDTF">2026-06-20T01:13:44Z</dcterms:modified>
</cp:coreProperties>
</file>